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75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tripathy" userId="7ac9460c321f1d31" providerId="LiveId" clId="{5BCF2EC0-ECCD-4672-9D15-7400385511AF}"/>
    <pc:docChg chg="addSld modSld">
      <pc:chgData name="vaibhav tripathy" userId="7ac9460c321f1d31" providerId="LiveId" clId="{5BCF2EC0-ECCD-4672-9D15-7400385511AF}" dt="2026-04-29T16:38:42.675" v="7" actId="14100"/>
      <pc:docMkLst>
        <pc:docMk/>
      </pc:docMkLst>
      <pc:sldChg chg="addSp delSp modSp new mod">
        <pc:chgData name="vaibhav tripathy" userId="7ac9460c321f1d31" providerId="LiveId" clId="{5BCF2EC0-ECCD-4672-9D15-7400385511AF}" dt="2026-04-29T16:38:42.675" v="7" actId="14100"/>
        <pc:sldMkLst>
          <pc:docMk/>
          <pc:sldMk cId="2863798117" sldId="263"/>
        </pc:sldMkLst>
        <pc:spChg chg="del">
          <ac:chgData name="vaibhav tripathy" userId="7ac9460c321f1d31" providerId="LiveId" clId="{5BCF2EC0-ECCD-4672-9D15-7400385511AF}" dt="2026-04-29T16:38:06.912" v="1" actId="931"/>
          <ac:spMkLst>
            <pc:docMk/>
            <pc:sldMk cId="2863798117" sldId="263"/>
            <ac:spMk id="3" creationId="{8CF81179-113B-2E22-D7F8-ACAC782AB534}"/>
          </ac:spMkLst>
        </pc:spChg>
        <pc:spChg chg="mod">
          <ac:chgData name="vaibhav tripathy" userId="7ac9460c321f1d31" providerId="LiveId" clId="{5BCF2EC0-ECCD-4672-9D15-7400385511AF}" dt="2026-04-29T16:38:42.675" v="7" actId="14100"/>
          <ac:spMkLst>
            <pc:docMk/>
            <pc:sldMk cId="2863798117" sldId="263"/>
            <ac:spMk id="4" creationId="{5A95F036-DA1D-770E-4E9C-947AF0DA6644}"/>
          </ac:spMkLst>
        </pc:spChg>
        <pc:picChg chg="add mod ord">
          <ac:chgData name="vaibhav tripathy" userId="7ac9460c321f1d31" providerId="LiveId" clId="{5BCF2EC0-ECCD-4672-9D15-7400385511AF}" dt="2026-04-29T16:38:32.801" v="6" actId="14100"/>
          <ac:picMkLst>
            <pc:docMk/>
            <pc:sldMk cId="2863798117" sldId="263"/>
            <ac:picMk id="6" creationId="{41B3E3DF-D0D9-97F3-85E9-984AA3D605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1A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83950"/>
            <a:ext cx="10692003" cy="1364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1A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1A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203" y="892525"/>
            <a:ext cx="10144993" cy="415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01AF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053" y="2135259"/>
            <a:ext cx="9177292" cy="324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1619"/>
            <a:ext cx="10692003" cy="6036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446" y="758483"/>
            <a:ext cx="6161561" cy="1214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9065" y="2711282"/>
            <a:ext cx="122937" cy="6826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449876"/>
            <a:ext cx="5021980" cy="32956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4665" y="3668098"/>
            <a:ext cx="4977337" cy="307747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4068" y="976704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0" y="0"/>
                </a:moveTo>
                <a:lnTo>
                  <a:pt x="413377" y="0"/>
                </a:lnTo>
              </a:path>
            </a:pathLst>
          </a:custGeom>
          <a:ln w="111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709009" y="971109"/>
            <a:ext cx="3871595" cy="1734820"/>
            <a:chOff x="6709009" y="971109"/>
            <a:chExt cx="3871595" cy="1734820"/>
          </a:xfrm>
        </p:grpSpPr>
        <p:sp>
          <p:nvSpPr>
            <p:cNvPr id="8" name="object 8"/>
            <p:cNvSpPr/>
            <p:nvPr/>
          </p:nvSpPr>
          <p:spPr>
            <a:xfrm>
              <a:off x="6709009" y="982300"/>
              <a:ext cx="3871595" cy="0"/>
            </a:xfrm>
            <a:custGeom>
              <a:avLst/>
              <a:gdLst/>
              <a:ahLst/>
              <a:cxnLst/>
              <a:rect l="l" t="t" r="r" b="b"/>
              <a:pathLst>
                <a:path w="3871595">
                  <a:moveTo>
                    <a:pt x="0" y="0"/>
                  </a:moveTo>
                  <a:lnTo>
                    <a:pt x="3871227" y="0"/>
                  </a:lnTo>
                </a:path>
              </a:pathLst>
            </a:custGeom>
            <a:ln w="111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57892" y="971109"/>
              <a:ext cx="0" cy="1734820"/>
            </a:xfrm>
            <a:custGeom>
              <a:avLst/>
              <a:gdLst/>
              <a:ahLst/>
              <a:cxnLst/>
              <a:rect l="l" t="t" r="r" b="b"/>
              <a:pathLst>
                <a:path h="1734820">
                  <a:moveTo>
                    <a:pt x="0" y="1734578"/>
                  </a:moveTo>
                  <a:lnTo>
                    <a:pt x="0" y="0"/>
                  </a:lnTo>
                </a:path>
              </a:pathLst>
            </a:custGeom>
            <a:ln w="16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34068" y="971109"/>
            <a:ext cx="0" cy="2467610"/>
          </a:xfrm>
          <a:custGeom>
            <a:avLst/>
            <a:gdLst/>
            <a:ahLst/>
            <a:cxnLst/>
            <a:rect l="l" t="t" r="r" b="b"/>
            <a:pathLst>
              <a:path h="2467610">
                <a:moveTo>
                  <a:pt x="0" y="2467577"/>
                </a:moveTo>
                <a:lnTo>
                  <a:pt x="0" y="0"/>
                </a:lnTo>
              </a:path>
            </a:pathLst>
          </a:custGeom>
          <a:ln w="111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76407" y="3427495"/>
            <a:ext cx="2865755" cy="0"/>
          </a:xfrm>
          <a:custGeom>
            <a:avLst/>
            <a:gdLst/>
            <a:ahLst/>
            <a:cxnLst/>
            <a:rect l="l" t="t" r="r" b="b"/>
            <a:pathLst>
              <a:path w="2865754">
                <a:moveTo>
                  <a:pt x="0" y="0"/>
                </a:moveTo>
                <a:lnTo>
                  <a:pt x="2865713" y="0"/>
                </a:lnTo>
              </a:path>
            </a:pathLst>
          </a:custGeom>
          <a:ln w="33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83357" y="3461068"/>
            <a:ext cx="2865755" cy="0"/>
          </a:xfrm>
          <a:custGeom>
            <a:avLst/>
            <a:gdLst/>
            <a:ahLst/>
            <a:cxnLst/>
            <a:rect l="l" t="t" r="r" b="b"/>
            <a:pathLst>
              <a:path w="2865754">
                <a:moveTo>
                  <a:pt x="0" y="0"/>
                </a:moveTo>
                <a:lnTo>
                  <a:pt x="2865713" y="0"/>
                </a:lnTo>
              </a:path>
            </a:pathLst>
          </a:custGeom>
          <a:ln w="1063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21981" y="6566523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5">
                <a:moveTo>
                  <a:pt x="0" y="0"/>
                </a:moveTo>
                <a:lnTo>
                  <a:pt x="692688" y="0"/>
                </a:lnTo>
              </a:path>
            </a:pathLst>
          </a:custGeom>
          <a:ln w="16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165181" y="1368428"/>
            <a:ext cx="19672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3950" algn="l"/>
              </a:tabLst>
            </a:pP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1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2550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2550" spc="-82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6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1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2550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2550" spc="-15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033160"/>
                </a:solidFill>
                <a:latin typeface="Arial"/>
                <a:cs typeface="Arial"/>
              </a:rPr>
              <a:t>•••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	•</a:t>
            </a:r>
            <a:r>
              <a:rPr sz="170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2550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2550" spc="-82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2550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2550" spc="-15" baseline="1633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1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6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1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65181" y="1489973"/>
            <a:ext cx="1971039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3950" algn="l"/>
              </a:tabLst>
            </a:pP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10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1700" spc="-60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00" spc="-12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00" spc="-1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1700" spc="-10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033160"/>
                </a:solidFill>
                <a:latin typeface="Arial"/>
                <a:cs typeface="Arial"/>
              </a:rPr>
              <a:t>•••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	•</a:t>
            </a:r>
            <a:r>
              <a:rPr sz="170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1700" spc="-55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33160"/>
                </a:solidFill>
                <a:latin typeface="Times New Roman"/>
                <a:cs typeface="Times New Roman"/>
              </a:rPr>
              <a:t>•</a:t>
            </a:r>
            <a:r>
              <a:rPr sz="1700" spc="-15" dirty="0">
                <a:solidFill>
                  <a:srgbClr val="03316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00" spc="-16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0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00" spc="-1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39444" y="1617113"/>
            <a:ext cx="201168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13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12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19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9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14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15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45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2850" spc="-67" baseline="-27777" dirty="0">
                <a:solidFill>
                  <a:srgbClr val="033160"/>
                </a:solidFill>
                <a:latin typeface="Courier New"/>
                <a:cs typeface="Courier New"/>
              </a:rPr>
              <a:t>••</a:t>
            </a:r>
            <a:r>
              <a:rPr sz="1850" spc="-45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8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12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spc="-8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7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3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64844" y="1757775"/>
            <a:ext cx="196088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3315" algn="l"/>
              </a:tabLst>
            </a:pP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12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spc="-8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120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4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7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spc="-8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7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	</a:t>
            </a:r>
            <a:r>
              <a:rPr sz="1850" spc="-80" dirty="0">
                <a:solidFill>
                  <a:srgbClr val="033160"/>
                </a:solidFill>
                <a:latin typeface="Arial"/>
                <a:cs typeface="Arial"/>
              </a:rPr>
              <a:t>• </a:t>
            </a:r>
            <a:r>
              <a:rPr sz="1850" spc="-75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12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850" spc="-8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850" spc="-7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sz="1750" spc="-70" dirty="0">
                <a:solidFill>
                  <a:srgbClr val="033160"/>
                </a:solidFill>
                <a:latin typeface="Arial"/>
                <a:cs typeface="Arial"/>
              </a:rPr>
              <a:t> •</a:t>
            </a:r>
            <a:r>
              <a:rPr sz="1750" spc="-65" dirty="0">
                <a:solidFill>
                  <a:srgbClr val="033160"/>
                </a:solidFill>
                <a:latin typeface="Arial"/>
                <a:cs typeface="Arial"/>
              </a:rPr>
              <a:t> </a:t>
            </a:r>
            <a:r>
              <a:rPr sz="1750" spc="-50" dirty="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45826" y="2067078"/>
            <a:ext cx="1607820" cy="1119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0725" spc="-592" baseline="20202" dirty="0">
                <a:latin typeface="Arial"/>
                <a:cs typeface="Arial"/>
              </a:rPr>
              <a:t>s</a:t>
            </a:r>
            <a:r>
              <a:rPr sz="10725" spc="-690" baseline="20202" dirty="0">
                <a:latin typeface="Arial"/>
                <a:cs typeface="Arial"/>
              </a:rPr>
              <a:t> </a:t>
            </a:r>
            <a:r>
              <a:rPr sz="6100" spc="240" dirty="0">
                <a:latin typeface="Arial"/>
                <a:cs typeface="Arial"/>
              </a:rPr>
              <a:t>01</a:t>
            </a:r>
            <a:endParaRPr sz="6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0050" y="2200901"/>
            <a:ext cx="957580" cy="958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100" spc="240" dirty="0">
                <a:latin typeface="Arial"/>
                <a:cs typeface="Arial"/>
              </a:rPr>
              <a:t>02</a:t>
            </a:r>
            <a:endParaRPr sz="6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9524" y="2012430"/>
            <a:ext cx="6006462" cy="28508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564" y="1149141"/>
            <a:ext cx="606298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>
                <a:solidFill>
                  <a:srgbClr val="7E7E7E"/>
                </a:solidFill>
              </a:rPr>
              <a:t>''</a:t>
            </a:r>
            <a:r>
              <a:rPr spc="135" dirty="0">
                <a:solidFill>
                  <a:srgbClr val="00AFEF"/>
                </a:solidFill>
              </a:rPr>
              <a:t>overview</a:t>
            </a:r>
            <a:r>
              <a:rPr spc="250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of</a:t>
            </a:r>
            <a:r>
              <a:rPr spc="110" dirty="0">
                <a:solidFill>
                  <a:srgbClr val="00AFEF"/>
                </a:solidFill>
              </a:rPr>
              <a:t> </a:t>
            </a:r>
            <a:r>
              <a:rPr spc="55" dirty="0">
                <a:solidFill>
                  <a:srgbClr val="00AFEF"/>
                </a:solidFill>
              </a:rPr>
              <a:t>Loan </a:t>
            </a:r>
            <a:r>
              <a:rPr spc="105" dirty="0">
                <a:solidFill>
                  <a:srgbClr val="00AFEF"/>
                </a:solidFill>
              </a:rPr>
              <a:t>Approval</a:t>
            </a:r>
            <a:r>
              <a:rPr spc="120" dirty="0">
                <a:solidFill>
                  <a:srgbClr val="00AFEF"/>
                </a:solidFill>
              </a:rPr>
              <a:t> </a:t>
            </a:r>
            <a:r>
              <a:rPr spc="-10" dirty="0">
                <a:solidFill>
                  <a:srgbClr val="00AFEF"/>
                </a:solidFill>
              </a:rPr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8435" y="2215807"/>
            <a:ext cx="3213735" cy="1472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387350" indent="3810">
              <a:lnSpc>
                <a:spcPct val="122900"/>
              </a:lnSpc>
              <a:spcBef>
                <a:spcPts val="100"/>
              </a:spcBef>
            </a:pPr>
            <a:r>
              <a:rPr sz="1600" b="1" spc="95" dirty="0">
                <a:solidFill>
                  <a:srgbClr val="00AFEF"/>
                </a:solidFill>
                <a:latin typeface="Arial"/>
                <a:cs typeface="Arial"/>
              </a:rPr>
              <a:t>Traditional</a:t>
            </a:r>
            <a:r>
              <a:rPr sz="1600" b="1" spc="10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00AFEF"/>
                </a:solidFill>
                <a:latin typeface="Arial"/>
                <a:cs typeface="Arial"/>
              </a:rPr>
              <a:t>Loan</a:t>
            </a:r>
            <a:r>
              <a:rPr sz="1600" b="1" spc="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80" dirty="0">
                <a:solidFill>
                  <a:srgbClr val="00AFEF"/>
                </a:solidFill>
                <a:latin typeface="Arial"/>
                <a:cs typeface="Arial"/>
              </a:rPr>
              <a:t>Approval </a:t>
            </a:r>
            <a:r>
              <a:rPr sz="1600" b="1" spc="100" dirty="0">
                <a:solidFill>
                  <a:srgbClr val="00AFEF"/>
                </a:solidFill>
                <a:latin typeface="Arial"/>
                <a:cs typeface="Arial"/>
              </a:rPr>
              <a:t>Methods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"/>
              <a:cs typeface="Arial"/>
            </a:endParaRPr>
          </a:p>
          <a:p>
            <a:pPr marL="13970" marR="5080" indent="-1905">
              <a:lnSpc>
                <a:spcPct val="118100"/>
              </a:lnSpc>
            </a:pPr>
            <a:r>
              <a:rPr sz="1100" spc="60" dirty="0">
                <a:solidFill>
                  <a:srgbClr val="3D3D3D"/>
                </a:solidFill>
                <a:latin typeface="Arial"/>
                <a:cs typeface="Arial"/>
              </a:rPr>
              <a:t>Manual</a:t>
            </a:r>
            <a:r>
              <a:rPr sz="1100" spc="8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3D3D3D"/>
                </a:solidFill>
                <a:latin typeface="Arial"/>
                <a:cs typeface="Arial"/>
              </a:rPr>
              <a:t>evaluation</a:t>
            </a:r>
            <a:r>
              <a:rPr sz="1100" spc="15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of</a:t>
            </a:r>
            <a:r>
              <a:rPr sz="1100" spc="114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borrower</a:t>
            </a:r>
            <a:r>
              <a:rPr sz="1100" spc="13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3D3D3D"/>
                </a:solidFill>
                <a:latin typeface="Arial"/>
                <a:cs typeface="Arial"/>
              </a:rPr>
              <a:t>information</a:t>
            </a:r>
            <a:r>
              <a:rPr sz="1100" spc="14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45" dirty="0">
                <a:solidFill>
                  <a:srgbClr val="3D3D3D"/>
                </a:solidFill>
                <a:latin typeface="Arial"/>
                <a:cs typeface="Arial"/>
              </a:rPr>
              <a:t>by </a:t>
            </a:r>
            <a:r>
              <a:rPr sz="1100" spc="70" dirty="0">
                <a:solidFill>
                  <a:srgbClr val="2B2B2B"/>
                </a:solidFill>
                <a:latin typeface="Arial"/>
                <a:cs typeface="Arial"/>
              </a:rPr>
              <a:t>loan</a:t>
            </a:r>
            <a:r>
              <a:rPr sz="1100" spc="4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officers</a:t>
            </a:r>
            <a:r>
              <a:rPr sz="1100" spc="9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to</a:t>
            </a:r>
            <a:r>
              <a:rPr sz="1100" spc="17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2B2B2B"/>
                </a:solidFill>
                <a:latin typeface="Arial"/>
                <a:cs typeface="Arial"/>
              </a:rPr>
              <a:t>determine</a:t>
            </a:r>
            <a:r>
              <a:rPr sz="1100" spc="8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3D3D3D"/>
                </a:solidFill>
                <a:latin typeface="Arial"/>
                <a:cs typeface="Arial"/>
              </a:rPr>
              <a:t>creditworthiness</a:t>
            </a:r>
            <a:r>
              <a:rPr sz="1100" spc="2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35" dirty="0">
                <a:solidFill>
                  <a:srgbClr val="3D3D3D"/>
                </a:solidFill>
                <a:latin typeface="Arial"/>
                <a:cs typeface="Arial"/>
              </a:rPr>
              <a:t>and </a:t>
            </a:r>
            <a:r>
              <a:rPr sz="1100" spc="-10" dirty="0">
                <a:solidFill>
                  <a:srgbClr val="2B2B2B"/>
                </a:solidFill>
                <a:latin typeface="Arial"/>
                <a:cs typeface="Arial"/>
              </a:rPr>
              <a:t>risk.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1744" y="5099471"/>
            <a:ext cx="478790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Key</a:t>
            </a:r>
            <a:r>
              <a:rPr sz="1600" b="1" spc="2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70" dirty="0">
                <a:solidFill>
                  <a:srgbClr val="00AFEF"/>
                </a:solidFill>
                <a:latin typeface="Arial"/>
                <a:cs typeface="Arial"/>
              </a:rPr>
              <a:t>Factors</a:t>
            </a:r>
            <a:r>
              <a:rPr sz="1600" b="1" spc="8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00AFEF"/>
                </a:solidFill>
                <a:latin typeface="Arial"/>
                <a:cs typeface="Arial"/>
              </a:rPr>
              <a:t>Affecting</a:t>
            </a:r>
            <a:r>
              <a:rPr sz="1600" b="1" spc="9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00AFEF"/>
                </a:solidFill>
                <a:latin typeface="Arial"/>
                <a:cs typeface="Arial"/>
              </a:rPr>
              <a:t>Loan</a:t>
            </a:r>
            <a:r>
              <a:rPr sz="1600" b="1" spc="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00AFEF"/>
                </a:solidFill>
                <a:latin typeface="Arial"/>
                <a:cs typeface="Arial"/>
              </a:rPr>
              <a:t>Decisions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6510" marR="5080" indent="-1905">
              <a:lnSpc>
                <a:spcPct val="118100"/>
              </a:lnSpc>
            </a:pPr>
            <a:r>
              <a:rPr sz="1100" spc="45" dirty="0">
                <a:solidFill>
                  <a:srgbClr val="3D3D3D"/>
                </a:solidFill>
                <a:latin typeface="Arial"/>
                <a:cs typeface="Arial"/>
              </a:rPr>
              <a:t>Income,</a:t>
            </a:r>
            <a:r>
              <a:rPr sz="1100" spc="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3D3D3D"/>
                </a:solidFill>
                <a:latin typeface="Arial"/>
                <a:cs typeface="Arial"/>
              </a:rPr>
              <a:t>credit</a:t>
            </a:r>
            <a:r>
              <a:rPr sz="1100" spc="114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history, </a:t>
            </a:r>
            <a:r>
              <a:rPr sz="1100" spc="65" dirty="0">
                <a:solidFill>
                  <a:srgbClr val="3D3D3D"/>
                </a:solidFill>
                <a:latin typeface="Arial"/>
                <a:cs typeface="Arial"/>
              </a:rPr>
              <a:t>employment</a:t>
            </a:r>
            <a:r>
              <a:rPr sz="1100" spc="22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status,</a:t>
            </a:r>
            <a:r>
              <a:rPr sz="1100" spc="5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105" dirty="0">
                <a:solidFill>
                  <a:srgbClr val="3D3D3D"/>
                </a:solidFill>
                <a:latin typeface="Arial"/>
                <a:cs typeface="Arial"/>
              </a:rPr>
              <a:t>debt-</a:t>
            </a:r>
            <a:r>
              <a:rPr sz="1100" spc="13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90" dirty="0">
                <a:solidFill>
                  <a:srgbClr val="3D3D3D"/>
                </a:solidFill>
                <a:latin typeface="Arial"/>
                <a:cs typeface="Arial"/>
              </a:rPr>
              <a:t>to-</a:t>
            </a:r>
            <a:r>
              <a:rPr sz="1100" spc="2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70" dirty="0">
                <a:solidFill>
                  <a:srgbClr val="2B2B2B"/>
                </a:solidFill>
                <a:latin typeface="Arial"/>
                <a:cs typeface="Arial"/>
              </a:rPr>
              <a:t>income</a:t>
            </a:r>
            <a:r>
              <a:rPr sz="1100" spc="9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ratio,</a:t>
            </a:r>
            <a:r>
              <a:rPr sz="1100" spc="-4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35" dirty="0">
                <a:solidFill>
                  <a:srgbClr val="3D3D3D"/>
                </a:solidFill>
                <a:latin typeface="Arial"/>
                <a:cs typeface="Arial"/>
              </a:rPr>
              <a:t>and </a:t>
            </a:r>
            <a:r>
              <a:rPr sz="1100" spc="50" dirty="0">
                <a:solidFill>
                  <a:srgbClr val="3D3D3D"/>
                </a:solidFill>
                <a:latin typeface="Arial"/>
                <a:cs typeface="Arial"/>
              </a:rPr>
              <a:t>collateral</a:t>
            </a:r>
            <a:r>
              <a:rPr sz="1100" spc="18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3D3D3D"/>
                </a:solidFill>
                <a:latin typeface="Arial"/>
                <a:cs typeface="Arial"/>
              </a:rPr>
              <a:t>influence</a:t>
            </a:r>
            <a:r>
              <a:rPr sz="1100" spc="1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65" dirty="0">
                <a:solidFill>
                  <a:srgbClr val="3D3D3D"/>
                </a:solidFill>
                <a:latin typeface="Arial"/>
                <a:cs typeface="Arial"/>
              </a:rPr>
              <a:t>approval</a:t>
            </a:r>
            <a:r>
              <a:rPr sz="1100" spc="14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3D3D3D"/>
                </a:solidFill>
                <a:latin typeface="Arial"/>
                <a:cs typeface="Arial"/>
              </a:rPr>
              <a:t>outcomes.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203" y="872955"/>
            <a:ext cx="438975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7E7E7E"/>
                </a:solidFill>
              </a:rPr>
              <a:t>''</a:t>
            </a:r>
            <a:r>
              <a:rPr dirty="0">
                <a:solidFill>
                  <a:srgbClr val="00AFEF"/>
                </a:solidFill>
              </a:rPr>
              <a:t>Role</a:t>
            </a:r>
            <a:r>
              <a:rPr spc="160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of</a:t>
            </a:r>
            <a:r>
              <a:rPr spc="190" dirty="0">
                <a:solidFill>
                  <a:srgbClr val="00AFEF"/>
                </a:solidFill>
              </a:rPr>
              <a:t> </a:t>
            </a:r>
            <a:r>
              <a:rPr spc="70" dirty="0">
                <a:solidFill>
                  <a:srgbClr val="00AFEF"/>
                </a:solidFill>
              </a:rPr>
              <a:t>Prediction</a:t>
            </a:r>
            <a:r>
              <a:rPr spc="175" dirty="0">
                <a:solidFill>
                  <a:srgbClr val="00AFEF"/>
                </a:solidFill>
              </a:rPr>
              <a:t> </a:t>
            </a:r>
            <a:r>
              <a:rPr spc="75" dirty="0">
                <a:solidFill>
                  <a:srgbClr val="00AFEF"/>
                </a:solidFill>
              </a:rPr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7526" y="2675757"/>
            <a:ext cx="2755265" cy="2060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102870" indent="-3175">
              <a:lnSpc>
                <a:spcPct val="119300"/>
              </a:lnSpc>
              <a:spcBef>
                <a:spcPts val="95"/>
              </a:spcBef>
            </a:pPr>
            <a:r>
              <a:rPr sz="1600" b="1" spc="114" dirty="0">
                <a:solidFill>
                  <a:srgbClr val="00AFEF"/>
                </a:solidFill>
                <a:latin typeface="Arial"/>
                <a:cs typeface="Arial"/>
              </a:rPr>
              <a:t>Importance</a:t>
            </a:r>
            <a:r>
              <a:rPr sz="1600" b="1" spc="8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of</a:t>
            </a:r>
            <a:r>
              <a:rPr sz="1600" b="1" spc="7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0AFEF"/>
                </a:solidFill>
                <a:latin typeface="Arial"/>
                <a:cs typeface="Arial"/>
              </a:rPr>
              <a:t>Predictive </a:t>
            </a:r>
            <a:r>
              <a:rPr sz="1600" b="1" spc="60" dirty="0">
                <a:solidFill>
                  <a:srgbClr val="00AFEF"/>
                </a:solidFill>
                <a:latin typeface="Arial"/>
                <a:cs typeface="Arial"/>
              </a:rPr>
              <a:t>Analytics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13970" marR="5080" indent="-1905">
              <a:lnSpc>
                <a:spcPct val="118700"/>
              </a:lnSpc>
            </a:pPr>
            <a:r>
              <a:rPr sz="1350" dirty="0">
                <a:solidFill>
                  <a:srgbClr val="333333"/>
                </a:solidFill>
                <a:latin typeface="Arial"/>
                <a:cs typeface="Arial"/>
              </a:rPr>
              <a:t>Enhances</a:t>
            </a:r>
            <a:r>
              <a:rPr sz="135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90" dirty="0">
                <a:solidFill>
                  <a:srgbClr val="333333"/>
                </a:solidFill>
                <a:latin typeface="Arial"/>
                <a:cs typeface="Arial"/>
              </a:rPr>
              <a:t>accuracy</a:t>
            </a:r>
            <a:r>
              <a:rPr sz="1350" spc="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33333"/>
                </a:solidFill>
                <a:latin typeface="Arial"/>
                <a:cs typeface="Arial"/>
              </a:rPr>
              <a:t>and </a:t>
            </a:r>
            <a:r>
              <a:rPr sz="1350" spc="55" dirty="0">
                <a:solidFill>
                  <a:srgbClr val="333333"/>
                </a:solidFill>
                <a:latin typeface="Arial"/>
                <a:cs typeface="Arial"/>
              </a:rPr>
              <a:t>efficiency</a:t>
            </a:r>
            <a:r>
              <a:rPr sz="1350" spc="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33333"/>
                </a:solidFill>
                <a:latin typeface="Arial"/>
                <a:cs typeface="Arial"/>
              </a:rPr>
              <a:t>by</a:t>
            </a:r>
            <a:r>
              <a:rPr sz="135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333333"/>
                </a:solidFill>
                <a:latin typeface="Arial"/>
                <a:cs typeface="Arial"/>
              </a:rPr>
              <a:t>using</a:t>
            </a:r>
            <a:r>
              <a:rPr sz="135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155" dirty="0">
                <a:solidFill>
                  <a:srgbClr val="333333"/>
                </a:solidFill>
                <a:latin typeface="Arial"/>
                <a:cs typeface="Arial"/>
              </a:rPr>
              <a:t>data-</a:t>
            </a:r>
            <a:r>
              <a:rPr sz="1350" spc="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333333"/>
                </a:solidFill>
                <a:latin typeface="Arial"/>
                <a:cs typeface="Arial"/>
              </a:rPr>
              <a:t>driven insights</a:t>
            </a:r>
            <a:r>
              <a:rPr sz="1350" spc="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5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350" spc="1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cs typeface="Arial"/>
              </a:rPr>
              <a:t>assess</a:t>
            </a:r>
            <a:r>
              <a:rPr sz="1350" spc="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90" dirty="0">
                <a:solidFill>
                  <a:srgbClr val="333333"/>
                </a:solidFill>
                <a:latin typeface="Arial"/>
                <a:cs typeface="Arial"/>
              </a:rPr>
              <a:t>loan</a:t>
            </a:r>
            <a:r>
              <a:rPr sz="135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33333"/>
                </a:solidFill>
                <a:latin typeface="Arial"/>
                <a:cs typeface="Arial"/>
              </a:rPr>
              <a:t>applicant </a:t>
            </a:r>
            <a:r>
              <a:rPr sz="1350" spc="-10" dirty="0">
                <a:solidFill>
                  <a:srgbClr val="333333"/>
                </a:solidFill>
                <a:latin typeface="Arial"/>
                <a:cs typeface="Arial"/>
              </a:rPr>
              <a:t>risk.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0247" y="2675757"/>
            <a:ext cx="2853055" cy="2060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313690" indent="-4445">
              <a:lnSpc>
                <a:spcPct val="119300"/>
              </a:lnSpc>
              <a:spcBef>
                <a:spcPts val="95"/>
              </a:spcBef>
            </a:pPr>
            <a:r>
              <a:rPr sz="1600" b="1" spc="145" dirty="0">
                <a:solidFill>
                  <a:srgbClr val="00AFEF"/>
                </a:solidFill>
                <a:latin typeface="Arial"/>
                <a:cs typeface="Arial"/>
              </a:rPr>
              <a:t>Common</a:t>
            </a:r>
            <a:r>
              <a:rPr sz="1600" b="1" spc="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70" dirty="0">
                <a:solidFill>
                  <a:srgbClr val="00AFEF"/>
                </a:solidFill>
                <a:latin typeface="Arial"/>
                <a:cs typeface="Arial"/>
              </a:rPr>
              <a:t>Types</a:t>
            </a:r>
            <a:r>
              <a:rPr sz="1600" b="1" spc="3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of</a:t>
            </a:r>
            <a:r>
              <a:rPr sz="1600" b="1" spc="4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00AFEF"/>
                </a:solidFill>
                <a:latin typeface="Arial"/>
                <a:cs typeface="Arial"/>
              </a:rPr>
              <a:t>Loan </a:t>
            </a:r>
            <a:r>
              <a:rPr sz="1600" b="1" spc="70" dirty="0">
                <a:solidFill>
                  <a:srgbClr val="00AFEF"/>
                </a:solidFill>
                <a:latin typeface="Arial"/>
                <a:cs typeface="Arial"/>
              </a:rPr>
              <a:t>Approval</a:t>
            </a:r>
            <a:r>
              <a:rPr sz="1600" b="1" spc="114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00AFEF"/>
                </a:solidFill>
                <a:latin typeface="Arial"/>
                <a:cs typeface="Arial"/>
              </a:rPr>
              <a:t>Predictors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15240" marR="5080" indent="-635">
              <a:lnSpc>
                <a:spcPct val="118700"/>
              </a:lnSpc>
            </a:pPr>
            <a:r>
              <a:rPr sz="1350" dirty="0">
                <a:solidFill>
                  <a:srgbClr val="333333"/>
                </a:solidFill>
                <a:latin typeface="Arial"/>
                <a:cs typeface="Arial"/>
              </a:rPr>
              <a:t>Logistic</a:t>
            </a:r>
            <a:r>
              <a:rPr sz="1350" spc="3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33333"/>
                </a:solidFill>
                <a:latin typeface="Arial"/>
                <a:cs typeface="Arial"/>
              </a:rPr>
              <a:t>regression,</a:t>
            </a:r>
            <a:r>
              <a:rPr sz="1350" spc="1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333333"/>
                </a:solidFill>
                <a:latin typeface="Arial"/>
                <a:cs typeface="Arial"/>
              </a:rPr>
              <a:t>decision</a:t>
            </a:r>
            <a:r>
              <a:rPr sz="1350" spc="2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Arial"/>
                <a:cs typeface="Arial"/>
              </a:rPr>
              <a:t>trees, </a:t>
            </a:r>
            <a:r>
              <a:rPr sz="135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1350" spc="2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100" dirty="0">
                <a:solidFill>
                  <a:srgbClr val="333333"/>
                </a:solidFill>
                <a:latin typeface="Arial"/>
                <a:cs typeface="Arial"/>
              </a:rPr>
              <a:t>machine</a:t>
            </a:r>
            <a:r>
              <a:rPr sz="1350" spc="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33333"/>
                </a:solidFill>
                <a:latin typeface="Arial"/>
                <a:cs typeface="Arial"/>
              </a:rPr>
              <a:t>learning</a:t>
            </a:r>
            <a:r>
              <a:rPr sz="1350" spc="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333333"/>
                </a:solidFill>
                <a:latin typeface="Arial"/>
                <a:cs typeface="Arial"/>
              </a:rPr>
              <a:t>algorithms </a:t>
            </a:r>
            <a:r>
              <a:rPr sz="1350" spc="100" dirty="0">
                <a:solidFill>
                  <a:srgbClr val="333333"/>
                </a:solidFill>
                <a:latin typeface="Arial"/>
                <a:cs typeface="Arial"/>
              </a:rPr>
              <a:t>commonly</a:t>
            </a:r>
            <a:r>
              <a:rPr sz="1350" spc="1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80" dirty="0">
                <a:solidFill>
                  <a:srgbClr val="333333"/>
                </a:solidFill>
                <a:latin typeface="Arial"/>
                <a:cs typeface="Arial"/>
              </a:rPr>
              <a:t>predict</a:t>
            </a:r>
            <a:r>
              <a:rPr sz="135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33333"/>
                </a:solidFill>
                <a:latin typeface="Arial"/>
                <a:cs typeface="Arial"/>
              </a:rPr>
              <a:t>loan</a:t>
            </a:r>
            <a:r>
              <a:rPr sz="135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33333"/>
                </a:solidFill>
                <a:latin typeface="Arial"/>
                <a:cs typeface="Arial"/>
              </a:rPr>
              <a:t>approval </a:t>
            </a:r>
            <a:r>
              <a:rPr sz="1350" spc="55" dirty="0">
                <a:solidFill>
                  <a:srgbClr val="333333"/>
                </a:solidFill>
                <a:latin typeface="Arial"/>
                <a:cs typeface="Arial"/>
              </a:rPr>
              <a:t>chances.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CA3A-A612-2BD5-CCE4-35B37F83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B3E3DF-D0D9-97F3-85E9-984AA3D605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0" y="782670"/>
            <a:ext cx="10756900" cy="599751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5F036-DA1D-770E-4E9C-947AF0DA664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 flipV="1">
            <a:off x="5507101" y="6730936"/>
            <a:ext cx="4651629" cy="936689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79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1472" y="1915103"/>
            <a:ext cx="1842477" cy="18342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8006" y="1875956"/>
            <a:ext cx="1842478" cy="18286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203" y="872955"/>
            <a:ext cx="640080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>
                <a:solidFill>
                  <a:srgbClr val="7E7E7E"/>
                </a:solidFill>
              </a:rPr>
              <a:t>''</a:t>
            </a:r>
            <a:r>
              <a:rPr spc="125" dirty="0">
                <a:solidFill>
                  <a:srgbClr val="00AFEF"/>
                </a:solidFill>
              </a:rPr>
              <a:t>Data</a:t>
            </a:r>
            <a:r>
              <a:rPr spc="330" dirty="0">
                <a:solidFill>
                  <a:srgbClr val="00AFEF"/>
                </a:solidFill>
              </a:rPr>
              <a:t> </a:t>
            </a:r>
            <a:r>
              <a:rPr spc="160" dirty="0">
                <a:solidFill>
                  <a:srgbClr val="00AFEF"/>
                </a:solidFill>
              </a:rPr>
              <a:t>and</a:t>
            </a:r>
            <a:r>
              <a:rPr spc="190" dirty="0">
                <a:solidFill>
                  <a:srgbClr val="00AFEF"/>
                </a:solidFill>
              </a:rPr>
              <a:t> </a:t>
            </a:r>
            <a:r>
              <a:rPr spc="85" dirty="0">
                <a:solidFill>
                  <a:srgbClr val="00AFEF"/>
                </a:solidFill>
              </a:rPr>
              <a:t>Features</a:t>
            </a:r>
            <a:r>
              <a:rPr spc="100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Used</a:t>
            </a:r>
            <a:r>
              <a:rPr spc="75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in</a:t>
            </a:r>
            <a:r>
              <a:rPr spc="315" dirty="0">
                <a:solidFill>
                  <a:srgbClr val="00AFEF"/>
                </a:solidFill>
              </a:rPr>
              <a:t> </a:t>
            </a:r>
            <a:r>
              <a:rPr spc="55" dirty="0">
                <a:solidFill>
                  <a:srgbClr val="00AFEF"/>
                </a:solidFill>
              </a:rPr>
              <a:t>Prediction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46172" y="3967154"/>
            <a:ext cx="843280" cy="228600"/>
          </a:xfrm>
          <a:prstGeom prst="rect">
            <a:avLst/>
          </a:prstGeom>
          <a:solidFill>
            <a:srgbClr val="01AFEF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50" b="1" spc="75" dirty="0">
                <a:solidFill>
                  <a:srgbClr val="FDFDFD"/>
                </a:solidFill>
                <a:latin typeface="Arial"/>
                <a:cs typeface="Arial"/>
              </a:rPr>
              <a:t>Customer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0944" y="3967154"/>
            <a:ext cx="807085" cy="228600"/>
          </a:xfrm>
          <a:prstGeom prst="rect">
            <a:avLst/>
          </a:prstGeom>
          <a:solidFill>
            <a:srgbClr val="01AFEF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50" b="1" spc="80" dirty="0">
                <a:solidFill>
                  <a:srgbClr val="FDFDFD"/>
                </a:solidFill>
                <a:latin typeface="Arial"/>
                <a:cs typeface="Arial"/>
              </a:rPr>
              <a:t>Financial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4812" y="3967154"/>
            <a:ext cx="1030605" cy="228600"/>
          </a:xfrm>
          <a:prstGeom prst="rect">
            <a:avLst/>
          </a:prstGeom>
          <a:solidFill>
            <a:srgbClr val="01AFEF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50" b="1" spc="90" dirty="0">
                <a:solidFill>
                  <a:srgbClr val="FDFDFD"/>
                </a:solidFill>
                <a:latin typeface="Arial"/>
                <a:cs typeface="Arial"/>
              </a:rPr>
              <a:t>Information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0870" y="3855308"/>
            <a:ext cx="2556510" cy="228600"/>
          </a:xfrm>
          <a:prstGeom prst="rect">
            <a:avLst/>
          </a:prstGeom>
          <a:solidFill>
            <a:srgbClr val="053462"/>
          </a:solidFill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1250" b="1" spc="85" dirty="0">
                <a:solidFill>
                  <a:srgbClr val="FDFDFD"/>
                </a:solidFill>
                <a:latin typeface="Arial"/>
                <a:cs typeface="Arial"/>
              </a:rPr>
              <a:t>Credit</a:t>
            </a:r>
            <a:r>
              <a:rPr sz="1250" b="1" spc="4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250" b="1" spc="65" dirty="0">
                <a:solidFill>
                  <a:srgbClr val="FDFDFD"/>
                </a:solidFill>
                <a:latin typeface="Arial"/>
                <a:cs typeface="Arial"/>
              </a:rPr>
              <a:t>History</a:t>
            </a:r>
            <a:r>
              <a:rPr sz="1250" b="1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250" b="1" spc="85" dirty="0">
                <a:solidFill>
                  <a:srgbClr val="FDFDFD"/>
                </a:solidFill>
                <a:latin typeface="Arial"/>
                <a:cs typeface="Arial"/>
              </a:rPr>
              <a:t>and</a:t>
            </a:r>
            <a:r>
              <a:rPr sz="1250" b="1" spc="25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250" b="1" spc="70" dirty="0">
                <a:solidFill>
                  <a:srgbClr val="FDFDFD"/>
                </a:solidFill>
                <a:latin typeface="Arial"/>
                <a:cs typeface="Arial"/>
              </a:rPr>
              <a:t>Behavioral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41057" y="4073408"/>
            <a:ext cx="396875" cy="228600"/>
          </a:xfrm>
          <a:custGeom>
            <a:avLst/>
            <a:gdLst/>
            <a:ahLst/>
            <a:cxnLst/>
            <a:rect l="l" t="t" r="r" b="b"/>
            <a:pathLst>
              <a:path w="396875" h="228600">
                <a:moveTo>
                  <a:pt x="396411" y="228030"/>
                </a:moveTo>
                <a:lnTo>
                  <a:pt x="0" y="228030"/>
                </a:lnTo>
                <a:lnTo>
                  <a:pt x="0" y="0"/>
                </a:lnTo>
                <a:lnTo>
                  <a:pt x="396411" y="0"/>
                </a:lnTo>
                <a:lnTo>
                  <a:pt x="396411" y="228030"/>
                </a:lnTo>
                <a:close/>
              </a:path>
            </a:pathLst>
          </a:custGeom>
          <a:solidFill>
            <a:srgbClr val="053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28359" y="4069571"/>
            <a:ext cx="44259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114" dirty="0">
                <a:solidFill>
                  <a:srgbClr val="FDFDFD"/>
                </a:solidFill>
                <a:latin typeface="Arial"/>
                <a:cs typeface="Arial"/>
              </a:rPr>
              <a:t>Data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6872" y="4378081"/>
            <a:ext cx="3293745" cy="11550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0795" algn="ctr">
              <a:lnSpc>
                <a:spcPct val="148700"/>
              </a:lnSpc>
              <a:spcBef>
                <a:spcPts val="70"/>
              </a:spcBef>
            </a:pPr>
            <a:r>
              <a:rPr sz="1250" dirty="0">
                <a:solidFill>
                  <a:srgbClr val="0C0C0C"/>
                </a:solidFill>
                <a:latin typeface="Arial"/>
                <a:cs typeface="Arial"/>
              </a:rPr>
              <a:t>Includes</a:t>
            </a:r>
            <a:r>
              <a:rPr sz="1250" spc="20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0C0C0C"/>
                </a:solidFill>
                <a:latin typeface="Arial"/>
                <a:cs typeface="Arial"/>
              </a:rPr>
              <a:t>income,</a:t>
            </a:r>
            <a:r>
              <a:rPr sz="1250" spc="7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80" dirty="0">
                <a:solidFill>
                  <a:srgbClr val="0C0C0C"/>
                </a:solidFill>
                <a:latin typeface="Arial"/>
                <a:cs typeface="Arial"/>
              </a:rPr>
              <a:t>employment</a:t>
            </a:r>
            <a:r>
              <a:rPr sz="125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45" dirty="0">
                <a:solidFill>
                  <a:srgbClr val="1C1C1C"/>
                </a:solidFill>
                <a:latin typeface="Arial"/>
                <a:cs typeface="Arial"/>
              </a:rPr>
              <a:t>status, </a:t>
            </a:r>
            <a:r>
              <a:rPr sz="1250" dirty="0">
                <a:solidFill>
                  <a:srgbClr val="0C0C0C"/>
                </a:solidFill>
                <a:latin typeface="Arial"/>
                <a:cs typeface="Arial"/>
              </a:rPr>
              <a:t>existing</a:t>
            </a:r>
            <a:r>
              <a:rPr sz="1250" spc="1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55" dirty="0">
                <a:solidFill>
                  <a:srgbClr val="0C0C0C"/>
                </a:solidFill>
                <a:latin typeface="Arial"/>
                <a:cs typeface="Arial"/>
              </a:rPr>
              <a:t>debts,</a:t>
            </a:r>
            <a:r>
              <a:rPr sz="125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sz="1250" spc="26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65" dirty="0">
                <a:solidFill>
                  <a:srgbClr val="0C0C0C"/>
                </a:solidFill>
                <a:latin typeface="Arial"/>
                <a:cs typeface="Arial"/>
              </a:rPr>
              <a:t>financial</a:t>
            </a:r>
            <a:r>
              <a:rPr sz="1250" spc="1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50" dirty="0">
                <a:solidFill>
                  <a:srgbClr val="1C1C1C"/>
                </a:solidFill>
                <a:latin typeface="Arial"/>
                <a:cs typeface="Arial"/>
              </a:rPr>
              <a:t>stability </a:t>
            </a:r>
            <a:r>
              <a:rPr sz="1250" spc="55" dirty="0">
                <a:solidFill>
                  <a:srgbClr val="0C0C0C"/>
                </a:solidFill>
                <a:latin typeface="Arial"/>
                <a:cs typeface="Arial"/>
              </a:rPr>
              <a:t>indicators</a:t>
            </a:r>
            <a:r>
              <a:rPr sz="1250" spc="1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90" dirty="0">
                <a:solidFill>
                  <a:srgbClr val="0C0C0C"/>
                </a:solidFill>
                <a:latin typeface="Arial"/>
                <a:cs typeface="Arial"/>
              </a:rPr>
              <a:t>used</a:t>
            </a:r>
            <a:r>
              <a:rPr sz="1250" spc="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250" spc="8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0C0C0C"/>
                </a:solidFill>
                <a:latin typeface="Arial"/>
                <a:cs typeface="Arial"/>
              </a:rPr>
              <a:t>assess</a:t>
            </a:r>
            <a:r>
              <a:rPr sz="1250" spc="9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100" dirty="0">
                <a:solidFill>
                  <a:srgbClr val="0C0C0C"/>
                </a:solidFill>
                <a:latin typeface="Arial"/>
                <a:cs typeface="Arial"/>
              </a:rPr>
              <a:t>loan</a:t>
            </a:r>
            <a:r>
              <a:rPr sz="125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80" dirty="0">
                <a:solidFill>
                  <a:srgbClr val="0C0C0C"/>
                </a:solidFill>
                <a:latin typeface="Arial"/>
                <a:cs typeface="Arial"/>
              </a:rPr>
              <a:t>repayment </a:t>
            </a:r>
            <a:r>
              <a:rPr sz="1250" spc="40" dirty="0">
                <a:solidFill>
                  <a:srgbClr val="0C0C0C"/>
                </a:solidFill>
                <a:latin typeface="Arial"/>
                <a:cs typeface="Arial"/>
              </a:rPr>
              <a:t>ability.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7653" y="4378081"/>
            <a:ext cx="2978785" cy="869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65" marR="5080" indent="-51435" algn="ctr">
              <a:lnSpc>
                <a:spcPct val="148200"/>
              </a:lnSpc>
              <a:spcBef>
                <a:spcPts val="75"/>
              </a:spcBef>
            </a:pPr>
            <a:r>
              <a:rPr sz="1250" dirty="0">
                <a:solidFill>
                  <a:srgbClr val="0C0C0C"/>
                </a:solidFill>
                <a:latin typeface="Arial"/>
                <a:cs typeface="Arial"/>
              </a:rPr>
              <a:t>Involves</a:t>
            </a:r>
            <a:r>
              <a:rPr sz="1250" spc="25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1C1C1C"/>
                </a:solidFill>
                <a:latin typeface="Arial"/>
                <a:cs typeface="Arial"/>
              </a:rPr>
              <a:t>credit</a:t>
            </a:r>
            <a:r>
              <a:rPr sz="1250" spc="19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1C1C1C"/>
                </a:solidFill>
                <a:latin typeface="Arial"/>
                <a:cs typeface="Arial"/>
              </a:rPr>
              <a:t>scores,</a:t>
            </a:r>
            <a:r>
              <a:rPr sz="1250" spc="7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50" spc="90" dirty="0">
                <a:solidFill>
                  <a:srgbClr val="1C1C1C"/>
                </a:solidFill>
                <a:latin typeface="Arial"/>
                <a:cs typeface="Arial"/>
              </a:rPr>
              <a:t>past</a:t>
            </a:r>
            <a:r>
              <a:rPr sz="1250" spc="114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50" spc="65" dirty="0">
                <a:solidFill>
                  <a:srgbClr val="1C1C1C"/>
                </a:solidFill>
                <a:latin typeface="Arial"/>
                <a:cs typeface="Arial"/>
              </a:rPr>
              <a:t>loan </a:t>
            </a:r>
            <a:r>
              <a:rPr sz="1250" spc="90" dirty="0">
                <a:solidFill>
                  <a:srgbClr val="0C0C0C"/>
                </a:solidFill>
                <a:latin typeface="Arial"/>
                <a:cs typeface="Arial"/>
              </a:rPr>
              <a:t>repayment </a:t>
            </a:r>
            <a:r>
              <a:rPr sz="1250" spc="50" dirty="0">
                <a:solidFill>
                  <a:srgbClr val="0C0C0C"/>
                </a:solidFill>
                <a:latin typeface="Arial"/>
                <a:cs typeface="Arial"/>
              </a:rPr>
              <a:t>behavior,</a:t>
            </a:r>
            <a:r>
              <a:rPr sz="125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65" dirty="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sz="1250" spc="1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65" dirty="0">
                <a:solidFill>
                  <a:srgbClr val="1C1C1C"/>
                </a:solidFill>
                <a:latin typeface="Arial"/>
                <a:cs typeface="Arial"/>
              </a:rPr>
              <a:t>spending </a:t>
            </a:r>
            <a:r>
              <a:rPr sz="1250" spc="70" dirty="0">
                <a:solidFill>
                  <a:srgbClr val="0C0C0C"/>
                </a:solidFill>
                <a:latin typeface="Arial"/>
                <a:cs typeface="Arial"/>
              </a:rPr>
              <a:t>patterns</a:t>
            </a:r>
            <a:r>
              <a:rPr sz="1250" spc="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1C1C1C"/>
                </a:solidFill>
                <a:latin typeface="Arial"/>
                <a:cs typeface="Arial"/>
              </a:rPr>
              <a:t>to</a:t>
            </a:r>
            <a:r>
              <a:rPr sz="1250" spc="8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0C0C0C"/>
                </a:solidFill>
                <a:latin typeface="Arial"/>
                <a:cs typeface="Arial"/>
              </a:rPr>
              <a:t>evaluate</a:t>
            </a:r>
            <a:r>
              <a:rPr sz="1250" spc="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50" spc="50" dirty="0">
                <a:solidFill>
                  <a:srgbClr val="0C0C0C"/>
                </a:solidFill>
                <a:latin typeface="Arial"/>
                <a:cs typeface="Arial"/>
              </a:rPr>
              <a:t>creditworthiness.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4015" y="1705390"/>
            <a:ext cx="4282366" cy="446824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348768" y="1722167"/>
            <a:ext cx="0" cy="4412615"/>
          </a:xfrm>
          <a:custGeom>
            <a:avLst/>
            <a:gdLst/>
            <a:ahLst/>
            <a:cxnLst/>
            <a:rect l="l" t="t" r="r" b="b"/>
            <a:pathLst>
              <a:path h="4412615">
                <a:moveTo>
                  <a:pt x="0" y="4412322"/>
                </a:moveTo>
                <a:lnTo>
                  <a:pt x="0" y="0"/>
                </a:lnTo>
              </a:path>
            </a:pathLst>
          </a:custGeom>
          <a:ln w="11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4203" y="892525"/>
            <a:ext cx="517207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5" dirty="0">
                <a:solidFill>
                  <a:srgbClr val="7E7E7E"/>
                </a:solidFill>
              </a:rPr>
              <a:t>''</a:t>
            </a:r>
            <a:r>
              <a:rPr spc="105" dirty="0"/>
              <a:t>Techniques</a:t>
            </a:r>
            <a:r>
              <a:rPr spc="-105" dirty="0"/>
              <a:t> </a:t>
            </a:r>
            <a:r>
              <a:rPr spc="114" dirty="0"/>
              <a:t>and</a:t>
            </a:r>
            <a:r>
              <a:rPr spc="355" dirty="0"/>
              <a:t> </a:t>
            </a:r>
            <a:r>
              <a:rPr spc="50" dirty="0"/>
              <a:t>Technologies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8053" y="2135259"/>
            <a:ext cx="4336415" cy="324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5"/>
              </a:spcBef>
            </a:pPr>
            <a:r>
              <a:rPr sz="1750" b="1" spc="100" dirty="0">
                <a:solidFill>
                  <a:srgbClr val="01AFEF"/>
                </a:solidFill>
                <a:latin typeface="Arial"/>
                <a:cs typeface="Arial"/>
              </a:rPr>
              <a:t>Machine</a:t>
            </a:r>
            <a:r>
              <a:rPr sz="1750" b="1" spc="114" dirty="0">
                <a:solidFill>
                  <a:srgbClr val="01AFEF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01AFEF"/>
                </a:solidFill>
                <a:latin typeface="Arial"/>
                <a:cs typeface="Arial"/>
              </a:rPr>
              <a:t>Learning</a:t>
            </a:r>
            <a:r>
              <a:rPr sz="1750" b="1" spc="245" dirty="0">
                <a:solidFill>
                  <a:srgbClr val="01AFEF"/>
                </a:solidFill>
                <a:latin typeface="Arial"/>
                <a:cs typeface="Arial"/>
              </a:rPr>
              <a:t> </a:t>
            </a:r>
            <a:r>
              <a:rPr sz="1750" b="1" spc="40" dirty="0">
                <a:solidFill>
                  <a:srgbClr val="01AFEF"/>
                </a:solidFill>
                <a:latin typeface="Arial"/>
                <a:cs typeface="Arial"/>
              </a:rPr>
              <a:t>Algorithms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>
              <a:latin typeface="Arial"/>
              <a:cs typeface="Arial"/>
            </a:endParaRPr>
          </a:p>
          <a:p>
            <a:pPr marL="110489" marR="104139" algn="ctr">
              <a:lnSpc>
                <a:spcPct val="119600"/>
              </a:lnSpc>
              <a:spcBef>
                <a:spcPts val="5"/>
              </a:spcBef>
            </a:pP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Use</a:t>
            </a:r>
            <a:r>
              <a:rPr sz="1350" spc="3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sz="1350" spc="2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spc="85" dirty="0">
                <a:solidFill>
                  <a:srgbClr val="464646"/>
                </a:solidFill>
                <a:latin typeface="Arial"/>
                <a:cs typeface="Arial"/>
              </a:rPr>
              <a:t>models</a:t>
            </a:r>
            <a:r>
              <a:rPr sz="1350" spc="1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like</a:t>
            </a:r>
            <a:r>
              <a:rPr sz="1350" spc="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63636"/>
                </a:solidFill>
                <a:latin typeface="Arial"/>
                <a:cs typeface="Arial"/>
              </a:rPr>
              <a:t>decision</a:t>
            </a:r>
            <a:r>
              <a:rPr sz="1350" spc="7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trees</a:t>
            </a:r>
            <a:r>
              <a:rPr sz="1350" dirty="0">
                <a:solidFill>
                  <a:srgbClr val="666666"/>
                </a:solidFill>
                <a:latin typeface="Arial"/>
                <a:cs typeface="Arial"/>
              </a:rPr>
              <a:t>,</a:t>
            </a:r>
            <a:r>
              <a:rPr sz="1350" spc="-1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spc="120" dirty="0">
                <a:solidFill>
                  <a:srgbClr val="363636"/>
                </a:solidFill>
                <a:latin typeface="Arial"/>
                <a:cs typeface="Arial"/>
              </a:rPr>
              <a:t>random</a:t>
            </a:r>
            <a:r>
              <a:rPr sz="1350" spc="9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464646"/>
                </a:solidFill>
                <a:latin typeface="Arial"/>
                <a:cs typeface="Arial"/>
              </a:rPr>
              <a:t>forests,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and</a:t>
            </a:r>
            <a:r>
              <a:rPr sz="1350" spc="36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63636"/>
                </a:solidFill>
                <a:latin typeface="Arial"/>
                <a:cs typeface="Arial"/>
              </a:rPr>
              <a:t>neural</a:t>
            </a:r>
            <a:r>
              <a:rPr sz="1350" spc="6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networks</a:t>
            </a:r>
            <a:r>
              <a:rPr sz="1350" spc="15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to</a:t>
            </a:r>
            <a:r>
              <a:rPr sz="1350" spc="2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63636"/>
                </a:solidFill>
                <a:latin typeface="Arial"/>
                <a:cs typeface="Arial"/>
              </a:rPr>
              <a:t>accurately</a:t>
            </a:r>
            <a:r>
              <a:rPr sz="1350" spc="204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63636"/>
                </a:solidFill>
                <a:latin typeface="Arial"/>
                <a:cs typeface="Arial"/>
              </a:rPr>
              <a:t>predict</a:t>
            </a:r>
            <a:r>
              <a:rPr sz="1350" spc="1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363636"/>
                </a:solidFill>
                <a:latin typeface="Arial"/>
                <a:cs typeface="Arial"/>
              </a:rPr>
              <a:t>loan </a:t>
            </a:r>
            <a:r>
              <a:rPr sz="1350" spc="85" dirty="0">
                <a:solidFill>
                  <a:srgbClr val="363636"/>
                </a:solidFill>
                <a:latin typeface="Arial"/>
                <a:cs typeface="Arial"/>
              </a:rPr>
              <a:t>approval</a:t>
            </a:r>
            <a:r>
              <a:rPr sz="1350" spc="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63636"/>
                </a:solidFill>
                <a:latin typeface="Arial"/>
                <a:cs typeface="Arial"/>
              </a:rPr>
              <a:t>outcomes.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09880" marR="349885" algn="ctr">
              <a:lnSpc>
                <a:spcPct val="115300"/>
              </a:lnSpc>
              <a:spcBef>
                <a:spcPts val="1215"/>
              </a:spcBef>
            </a:pPr>
            <a:r>
              <a:rPr sz="1750" b="1" spc="114" dirty="0">
                <a:solidFill>
                  <a:srgbClr val="01AFEF"/>
                </a:solidFill>
                <a:latin typeface="Arial"/>
                <a:cs typeface="Arial"/>
              </a:rPr>
              <a:t>Implementation</a:t>
            </a:r>
            <a:r>
              <a:rPr sz="1750" b="1" spc="-110" dirty="0">
                <a:solidFill>
                  <a:srgbClr val="01AFEF"/>
                </a:solidFill>
                <a:latin typeface="Arial"/>
                <a:cs typeface="Arial"/>
              </a:rPr>
              <a:t> </a:t>
            </a:r>
            <a:r>
              <a:rPr sz="1750" b="1" spc="60" dirty="0">
                <a:solidFill>
                  <a:srgbClr val="01AFEF"/>
                </a:solidFill>
                <a:latin typeface="Arial"/>
                <a:cs typeface="Arial"/>
              </a:rPr>
              <a:t>Challenges</a:t>
            </a:r>
            <a:r>
              <a:rPr sz="1750" b="1" spc="85" dirty="0">
                <a:solidFill>
                  <a:srgbClr val="01AFEF"/>
                </a:solidFill>
                <a:latin typeface="Arial"/>
                <a:cs typeface="Arial"/>
              </a:rPr>
              <a:t> </a:t>
            </a:r>
            <a:r>
              <a:rPr sz="1750" b="1" spc="40" dirty="0">
                <a:solidFill>
                  <a:srgbClr val="01AFEF"/>
                </a:solidFill>
                <a:latin typeface="Arial"/>
                <a:cs typeface="Arial"/>
              </a:rPr>
              <a:t>and </a:t>
            </a:r>
            <a:r>
              <a:rPr sz="1750" b="1" spc="-10" dirty="0">
                <a:solidFill>
                  <a:srgbClr val="01AFEF"/>
                </a:solidFill>
                <a:latin typeface="Arial"/>
                <a:cs typeface="Arial"/>
              </a:rPr>
              <a:t>Solutions</a:t>
            </a:r>
            <a:endParaRPr sz="1750">
              <a:latin typeface="Arial"/>
              <a:cs typeface="Arial"/>
            </a:endParaRPr>
          </a:p>
          <a:p>
            <a:pPr marL="12700" marR="5080" algn="ctr">
              <a:lnSpc>
                <a:spcPct val="119600"/>
              </a:lnSpc>
              <a:spcBef>
                <a:spcPts val="715"/>
              </a:spcBef>
            </a:pP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Addresses</a:t>
            </a:r>
            <a:r>
              <a:rPr sz="1350" spc="15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125" dirty="0">
                <a:solidFill>
                  <a:srgbClr val="363636"/>
                </a:solidFill>
                <a:latin typeface="Arial"/>
                <a:cs typeface="Arial"/>
              </a:rPr>
              <a:t>data</a:t>
            </a:r>
            <a:r>
              <a:rPr sz="1350" spc="5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65" dirty="0">
                <a:solidFill>
                  <a:srgbClr val="363636"/>
                </a:solidFill>
                <a:latin typeface="Arial"/>
                <a:cs typeface="Arial"/>
              </a:rPr>
              <a:t>quality</a:t>
            </a:r>
            <a:r>
              <a:rPr sz="1350" spc="65" dirty="0">
                <a:solidFill>
                  <a:srgbClr val="666666"/>
                </a:solidFill>
                <a:latin typeface="Arial"/>
                <a:cs typeface="Arial"/>
              </a:rPr>
              <a:t>,</a:t>
            </a:r>
            <a:r>
              <a:rPr sz="1350" spc="-8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350" spc="100" dirty="0">
                <a:solidFill>
                  <a:srgbClr val="363636"/>
                </a:solidFill>
                <a:latin typeface="Arial"/>
                <a:cs typeface="Arial"/>
              </a:rPr>
              <a:t>model</a:t>
            </a:r>
            <a:r>
              <a:rPr sz="1350" spc="8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60" dirty="0">
                <a:solidFill>
                  <a:srgbClr val="363636"/>
                </a:solidFill>
                <a:latin typeface="Arial"/>
                <a:cs typeface="Arial"/>
              </a:rPr>
              <a:t>bias</a:t>
            </a:r>
            <a:r>
              <a:rPr sz="1350" spc="60" dirty="0">
                <a:solidFill>
                  <a:srgbClr val="7E7E7E"/>
                </a:solidFill>
                <a:latin typeface="Arial"/>
                <a:cs typeface="Arial"/>
              </a:rPr>
              <a:t>,</a:t>
            </a:r>
            <a:r>
              <a:rPr sz="1350" spc="-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363636"/>
                </a:solidFill>
                <a:latin typeface="Arial"/>
                <a:cs typeface="Arial"/>
              </a:rPr>
              <a:t>and</a:t>
            </a:r>
            <a:r>
              <a:rPr sz="1350" spc="2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363636"/>
                </a:solidFill>
                <a:latin typeface="Arial"/>
                <a:cs typeface="Arial"/>
              </a:rPr>
              <a:t>integration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issues</a:t>
            </a:r>
            <a:r>
              <a:rPr sz="1350" spc="12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80" dirty="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sz="1350" spc="2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spc="80" dirty="0">
                <a:solidFill>
                  <a:srgbClr val="363636"/>
                </a:solidFill>
                <a:latin typeface="Arial"/>
                <a:cs typeface="Arial"/>
              </a:rPr>
              <a:t>practical</a:t>
            </a:r>
            <a:r>
              <a:rPr sz="1350" spc="11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55" dirty="0">
                <a:solidFill>
                  <a:srgbClr val="464646"/>
                </a:solidFill>
                <a:latin typeface="Arial"/>
                <a:cs typeface="Arial"/>
              </a:rPr>
              <a:t>strategies</a:t>
            </a:r>
            <a:r>
              <a:rPr sz="1350" spc="15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for</a:t>
            </a:r>
            <a:r>
              <a:rPr sz="1350" spc="13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45" dirty="0">
                <a:solidFill>
                  <a:srgbClr val="464646"/>
                </a:solidFill>
                <a:latin typeface="Arial"/>
                <a:cs typeface="Arial"/>
              </a:rPr>
              <a:t>effective </a:t>
            </a:r>
            <a:r>
              <a:rPr sz="1350" spc="65" dirty="0">
                <a:solidFill>
                  <a:srgbClr val="363636"/>
                </a:solidFill>
                <a:latin typeface="Arial"/>
                <a:cs typeface="Arial"/>
              </a:rPr>
              <a:t>deployment.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6211"/>
            <a:ext cx="10692003" cy="57076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254</Words>
  <Application>Microsoft Office PowerPoint</Application>
  <PresentationFormat>Custom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''overview of Loan Approval Process</vt:lpstr>
      <vt:lpstr>''Role of Prediction Models</vt:lpstr>
      <vt:lpstr>PowerPoint Presentation</vt:lpstr>
      <vt:lpstr>''Data and Features Used in Prediction</vt:lpstr>
      <vt:lpstr>''Techniques and Technologies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vaibhav tripathy</cp:lastModifiedBy>
  <cp:revision>1</cp:revision>
  <dcterms:created xsi:type="dcterms:W3CDTF">2026-04-29T16:34:32Z</dcterms:created>
  <dcterms:modified xsi:type="dcterms:W3CDTF">2026-04-29T16:38:50Z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LastSaved">
    <vt:filetime>2026-04-29T00:00:00Z</vt:filetime>
  </property>
</Properties>
</file>